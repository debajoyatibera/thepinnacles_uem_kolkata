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hepinnacles-crp-digital-twin.streamlit.app/" TargetMode="External"/><Relationship Id="rId3" Type="http://schemas.openxmlformats.org/officeDocument/2006/relationships/hyperlink" Target="https://github.com/debajoyatibera/ThePINNacles_UEM_Kolkata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hepinnacles-crp-digital-twin.streamlit.app/" TargetMode="External"/><Relationship Id="rId3" Type="http://schemas.openxmlformats.org/officeDocument/2006/relationships/hyperlink" Target="https://github.com/debajoyatibera/ThePINNacles_UEM_Kolkat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1097280"/>
            <a:ext cx="2011680" cy="2011680"/>
          </a:xfrm>
          <a:prstGeom prst="ellipse">
            <a:avLst/>
          </a:prstGeom>
          <a:noFill/>
          <a:ln w="2540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1920240"/>
            <a:ext cx="2011680" cy="2011680"/>
          </a:xfrm>
          <a:prstGeom prst="ellipse">
            <a:avLst/>
          </a:prstGeom>
          <a:noFill/>
          <a:ln w="25400">
            <a:solidFill>
              <a:srgbClr val="5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2971800"/>
            <a:ext cx="1920240" cy="1920240"/>
          </a:xfrm>
          <a:prstGeom prst="ellipse">
            <a:avLst/>
          </a:prstGeom>
          <a:noFill/>
          <a:ln w="2540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621792"/>
            <a:ext cx="2423160" cy="310896"/>
          </a:xfrm>
          <a:prstGeom prst="round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640080"/>
            <a:ext cx="22768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1" i="0">
                <a:solidFill>
                  <a:srgbClr val="0A162A"/>
                </a:solidFill>
                <a:latin typeface="Aptos"/>
              </a:defRPr>
            </a:pPr>
            <a:r>
              <a:t>RESEARCH PROOF OF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7132320" cy="2148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3400" b="1" i="0">
                <a:solidFill>
                  <a:srgbClr val="F8FAFC"/>
                </a:solidFill>
                <a:latin typeface="Aptos"/>
              </a:defRPr>
            </a:pPr>
            <a:r>
              <a:t>Physics-Informed</a:t>
            </a:r>
          </a:p>
          <a:p>
            <a:pPr algn="l">
              <a:spcAft>
                <a:spcPts val="600"/>
              </a:spcAft>
              <a:defRPr sz="3400" b="1" i="0">
                <a:solidFill>
                  <a:srgbClr val="F8FAFC"/>
                </a:solidFill>
                <a:latin typeface="Aptos"/>
              </a:defRPr>
            </a:pPr>
            <a:r>
              <a:t>Digital Twin for</a:t>
            </a:r>
          </a:p>
          <a:p>
            <a:pPr algn="l">
              <a:spcAft>
                <a:spcPts val="600"/>
              </a:spcAft>
              <a:defRPr sz="3400" b="1" i="0">
                <a:solidFill>
                  <a:srgbClr val="F8FAFC"/>
                </a:solidFill>
                <a:latin typeface="Aptos"/>
              </a:defRPr>
            </a:pPr>
            <a:r>
              <a:t>Inflammation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64008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55D2DE"/>
                </a:solidFill>
                <a:latin typeface="Aptos"/>
              </a:defRPr>
            </a:pPr>
            <a:r>
              <a:t>CRP Digital Twin Challenge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4224528"/>
            <a:ext cx="67208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600" b="0" i="0">
                <a:solidFill>
                  <a:srgbClr val="B2C2D2"/>
                </a:solidFill>
                <a:latin typeface="Aptos"/>
              </a:defRPr>
            </a:pPr>
            <a:r>
              <a:t>Personalized trajectory simulation + synthetic 2-hour adverse-event forecasting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5166360"/>
            <a:ext cx="5276088" cy="0"/>
          </a:xfrm>
          <a:prstGeom prst="line">
            <a:avLst/>
          </a:prstGeom>
          <a:ln w="25400">
            <a:solidFill>
              <a:srgbClr val="15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088" y="5422392"/>
            <a:ext cx="68580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F8FAFC"/>
                </a:solidFill>
                <a:latin typeface="Aptos"/>
              </a:defRPr>
            </a:pPr>
            <a:r>
              <a:t>THE PINNACLES  |  University of Engineering &amp; Management (UEM), Kolkata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925312"/>
            <a:ext cx="6675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t>Debajoyati Bera  •  Sneha Chowdhury  •  Anmol Arpit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321808"/>
            <a:ext cx="35204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FFBE5C"/>
                </a:solidFill>
                <a:latin typeface="Aptos"/>
              </a:defRPr>
            </a:pPr>
            <a:r>
              <a:t>Synthetic data. Research demonstration. Not clinically validated.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6539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B2C2D2"/>
                </a:solidFill>
                <a:latin typeface="Aptos"/>
              </a:defRPr>
            </a:pPr>
            <a:r>
              <a:t>THE PINNACLES  •  CRP DIGITAL TWIN CHALLENGE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2881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15B8A6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5B8A6"/>
                </a:solidFill>
                <a:latin typeface="Aptos"/>
              </a:defRPr>
            </a:pPr>
            <a:r>
              <a:t>01  /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8FAFC"/>
                </a:solidFill>
                <a:latin typeface="Aptos"/>
              </a:defRPr>
            </a:pPr>
            <a:r>
              <a:t>Static records don’t show how physiology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B2C2D2"/>
                </a:solidFill>
                <a:latin typeface="Aptos"/>
              </a:defRPr>
            </a:pPr>
            <a:r>
              <a:t>The project explores how baseline health observations and dynamic signals could be combined in a research digital twin.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3520440" cy="233172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57400"/>
            <a:ext cx="64008" cy="2331720"/>
          </a:xfrm>
          <a:prstGeom prst="rect">
            <a:avLst/>
          </a:prstGeom>
          <a:solidFill>
            <a:srgbClr val="55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212848"/>
            <a:ext cx="31363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STATIC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24328"/>
            <a:ext cx="3136392" cy="16733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B2C2D2"/>
                </a:solidFill>
                <a:latin typeface="Aptos"/>
              </a:defRPr>
            </a:pPr>
            <a:r>
              <a:t>Demographics, diagnoses and clinical measurements describe a person at a point in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57400"/>
            <a:ext cx="3520440" cy="233172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057400"/>
            <a:ext cx="64008" cy="2331720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12848"/>
            <a:ext cx="31363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DYNAMIC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624328"/>
            <a:ext cx="3136392" cy="16733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B2C2D2"/>
                </a:solidFill>
                <a:latin typeface="Aptos"/>
              </a:defRPr>
            </a:pPr>
            <a:r>
              <a:t>Wearable-like time series can represent changing activity, sleep, stress and cardiovascular signals.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57400"/>
            <a:ext cx="3520440" cy="233172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2057400"/>
            <a:ext cx="64008" cy="2331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212848"/>
            <a:ext cx="31363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24328"/>
            <a:ext cx="3136392" cy="16733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B2C2D2"/>
                </a:solidFill>
                <a:latin typeface="Aptos"/>
              </a:defRPr>
            </a:pPr>
            <a:r>
              <a:t>Can we fuse these inputs to simulate inflammation trajectories and demonstrate a short-horizon forecast?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10912"/>
            <a:ext cx="10789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Scope: demonstrate an end-to-end architecture—not claim a deployable clinical prediction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B2C2D2"/>
                </a:solidFill>
                <a:latin typeface="Aptos"/>
              </a:defRPr>
            </a:pPr>
            <a:r>
              <a:t>THE PINNACLES  •  CRP DIGITAL TWIN CHALLENGE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2881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15B8A6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5B8A6"/>
                </a:solidFill>
                <a:latin typeface="Aptos"/>
              </a:defRPr>
            </a:pPr>
            <a:r>
              <a:t>02 /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8FAFC"/>
                </a:solidFill>
                <a:latin typeface="Aptos"/>
              </a:defRPr>
            </a:pPr>
            <a:r>
              <a:t>One dashboard, two modelling tracks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B2C2D2"/>
                </a:solidFill>
                <a:latin typeface="Aptos"/>
              </a:defRPr>
            </a:pPr>
            <a:r>
              <a:t>A doctor-facing research interface brings together a synthetic event forecast and model-simulated IL-6 / CRP trajectories.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011680" cy="114300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5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21992"/>
            <a:ext cx="186537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400" b="1" i="0">
                <a:solidFill>
                  <a:srgbClr val="F8FAFC"/>
                </a:solidFill>
                <a:latin typeface="Aptos"/>
              </a:defRPr>
            </a:pPr>
            <a:r>
              <a:t>NHANES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87752"/>
            <a:ext cx="1810512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t>Real cross-sectional observations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148840"/>
            <a:ext cx="2011680" cy="114300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2221992"/>
            <a:ext cx="186537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400" b="1" i="0">
                <a:solidFill>
                  <a:srgbClr val="F8FAFC"/>
                </a:solidFill>
                <a:latin typeface="Aptos"/>
              </a:defRPr>
            </a:pPr>
            <a:r>
              <a:t>SYNTHETIC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3" y="2587752"/>
            <a:ext cx="1810512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t>Hourly wearable-like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874519"/>
            <a:ext cx="2194560" cy="96012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9592" y="1947672"/>
            <a:ext cx="2048255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8FAFC"/>
                </a:solidFill>
                <a:latin typeface="Aptos"/>
              </a:defRPr>
            </a:pPr>
            <a:r>
              <a:t>EVENT PREDICTOR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2313432"/>
            <a:ext cx="1993391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3063240"/>
            <a:ext cx="2194560" cy="96012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5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9592" y="3136392"/>
            <a:ext cx="2048255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8FAFC"/>
                </a:solidFill>
                <a:latin typeface="Aptos"/>
              </a:defRPr>
            </a:pPr>
            <a:r>
              <a:t>ODE + PINN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4" y="3502152"/>
            <a:ext cx="1993391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t>IL-6 / CRP simulation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423160"/>
            <a:ext cx="2560320" cy="114300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2496312"/>
            <a:ext cx="2414015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400" b="1" i="0">
                <a:solidFill>
                  <a:srgbClr val="F8FAFC"/>
                </a:solidFill>
                <a:latin typeface="Aptos"/>
              </a:defRPr>
            </a:pPr>
            <a:r>
              <a:t>STREAMLIT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2862072"/>
            <a:ext cx="2359151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B2C2D2"/>
                </a:solidFill>
                <a:latin typeface="Aptos"/>
              </a:defRPr>
            </a:pPr>
            <a:r>
              <a:t>Patient view • forecast • trajectories • provenance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7480" y="2697480"/>
            <a:ext cx="548640" cy="0"/>
          </a:xfrm>
          <a:prstGeom prst="line">
            <a:avLst/>
          </a:prstGeom>
          <a:ln w="25400">
            <a:solidFill>
              <a:srgbClr val="55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257800" y="2359152"/>
            <a:ext cx="548640" cy="18288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57800" y="2880360"/>
            <a:ext cx="548640" cy="658368"/>
          </a:xfrm>
          <a:prstGeom prst="line">
            <a:avLst/>
          </a:prstGeom>
          <a:ln w="25400">
            <a:solidFill>
              <a:srgbClr val="55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01000" y="2359152"/>
            <a:ext cx="731520" cy="384048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001000" y="3154680"/>
            <a:ext cx="731520" cy="393192"/>
          </a:xfrm>
          <a:prstGeom prst="line">
            <a:avLst/>
          </a:prstGeom>
          <a:ln w="25400">
            <a:solidFill>
              <a:srgbClr val="55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43000" y="4709160"/>
            <a:ext cx="9875520" cy="96012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4709160"/>
            <a:ext cx="64008" cy="960120"/>
          </a:xfrm>
          <a:prstGeom prst="rect">
            <a:avLst/>
          </a:prstGeom>
          <a:solidFill>
            <a:srgbClr val="FF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44168" y="4864608"/>
            <a:ext cx="94914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8FAFC"/>
                </a:solidFill>
                <a:latin typeface="Aptos"/>
              </a:defRPr>
            </a:pPr>
            <a:r>
              <a:t>IMPORTANT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5276088"/>
            <a:ext cx="949147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B2C2D2"/>
                </a:solidFill>
                <a:latin typeface="Aptos"/>
              </a:defRPr>
            </a:pPr>
            <a:r>
              <a:t>Wearable telemetry, event labels and inflammation trajectories are synthetic or model-simulated; NHANES provides cross-sectional baseline observations.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6539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B2C2D2"/>
                </a:solidFill>
                <a:latin typeface="Aptos"/>
              </a:defRPr>
            </a:pPr>
            <a:r>
              <a:t>THE PINNACLES  •  CRP DIGITAL TWIN CHALLENGE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2881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15B8A6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5B8A6"/>
                </a:solidFill>
                <a:latin typeface="Aptos"/>
              </a:defRPr>
            </a:pPr>
            <a:r>
              <a:t>03 / DATA &amp;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8FAFC"/>
                </a:solidFill>
                <a:latin typeface="Aptos"/>
              </a:defRPr>
            </a:pPr>
            <a:r>
              <a:t>Three data categories are kept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B2C2D2"/>
                </a:solidFill>
                <a:latin typeface="Aptos"/>
              </a:defRPr>
            </a:pPr>
            <a:r>
              <a:t>Provenance is surfaced in the dashboard and documented in the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566160" cy="297180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64008" cy="2971800"/>
          </a:xfrm>
          <a:prstGeom prst="rect">
            <a:avLst/>
          </a:prstGeom>
          <a:solidFill>
            <a:srgbClr val="55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29967"/>
            <a:ext cx="3182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REAL • NHANES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3182112" cy="2313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Baseline clinical and activity observations from NHANES 2021–2023. The data are cross-sectional—not longitudinal wearable or repeated IL-6/CRP measurements.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66160" cy="297180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64008" cy="2971800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29967"/>
            <a:ext cx="3182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SYNTHETIC • DYNAMIC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41448"/>
            <a:ext cx="3182112" cy="2313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Wearable-like hourly telemetry and simulated adverse-event targets, linked to NHANES participant IDs for this proof of concept.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74519"/>
            <a:ext cx="3566160" cy="297180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874519"/>
            <a:ext cx="64008" cy="297180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2029967"/>
            <a:ext cx="3182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MODEL-SIMULATED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41448"/>
            <a:ext cx="3182112" cy="2313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ODE/PINN-generated IL-6 and CRP trajectories under a synthetic dynamic stimulus. These are not real laboratory measurements.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200" b="0" i="1">
                <a:solidFill>
                  <a:srgbClr val="B2C2D2"/>
                </a:solidFill>
                <a:latin typeface="Aptos"/>
              </a:defRPr>
            </a:pPr>
            <a:r>
              <a:t>Missing values are handled explicitly; cohort-median imputation is an assumption, not recovery of observed measurements.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B2C2D2"/>
                </a:solidFill>
                <a:latin typeface="Aptos"/>
              </a:defRPr>
            </a:pPr>
            <a:r>
              <a:t>THE PINNACLES  •  CRP DIGITAL TWIN CHALLENGE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2881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15B8A6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5B8A6"/>
                </a:solidFill>
                <a:latin typeface="Aptos"/>
              </a:defRPr>
            </a:pPr>
            <a:r>
              <a:t>04 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8FAFC"/>
                </a:solidFill>
                <a:latin typeface="Aptos"/>
              </a:defRPr>
            </a:pPr>
            <a:r>
              <a:t>Two branches converge in the research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B2C2D2"/>
                </a:solidFill>
                <a:latin typeface="Aptos"/>
              </a:defRPr>
            </a:pPr>
            <a:r>
              <a:t>Simplified view of the end-to-end prototype.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2057400" cy="310896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37360"/>
            <a:ext cx="1911095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1" i="0">
                <a:solidFill>
                  <a:srgbClr val="0A162A"/>
                </a:solidFill>
                <a:latin typeface="Aptos"/>
              </a:defRPr>
            </a:pPr>
            <a:r>
              <a:t>EVENT FORECASTING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19072"/>
            <a:ext cx="2743200" cy="310896"/>
          </a:xfrm>
          <a:prstGeom prst="roundRect">
            <a:avLst/>
          </a:prstGeom>
          <a:solidFill>
            <a:srgbClr val="55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737360"/>
            <a:ext cx="259689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1" i="0">
                <a:solidFill>
                  <a:srgbClr val="0A162A"/>
                </a:solidFill>
                <a:latin typeface="Aptos"/>
              </a:defRPr>
            </a:pPr>
            <a:r>
              <a:t>INFLAMMATION 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40280"/>
            <a:ext cx="1920240" cy="77724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5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13432"/>
            <a:ext cx="177393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8FAFC"/>
                </a:solidFill>
                <a:latin typeface="Aptos"/>
              </a:defRPr>
            </a:pPr>
            <a:r>
              <a:t>NHANES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79192"/>
            <a:ext cx="1719072" cy="2926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0" i="0">
                <a:solidFill>
                  <a:srgbClr val="B2C2D2"/>
                </a:solidFill>
                <a:latin typeface="Aptos"/>
              </a:defRPr>
            </a:pPr>
            <a:r>
              <a:t>Static feature prep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240280"/>
            <a:ext cx="1920240" cy="77724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2313432"/>
            <a:ext cx="177393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8FAFC"/>
                </a:solidFill>
                <a:latin typeface="Aptos"/>
              </a:defRPr>
            </a:pPr>
            <a:r>
              <a:t>SYNTHETIC WEARABLES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4" y="2679192"/>
            <a:ext cx="1719072" cy="2926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0" i="0">
                <a:solidFill>
                  <a:srgbClr val="B2C2D2"/>
                </a:solidFill>
                <a:latin typeface="Aptos"/>
              </a:defRPr>
            </a:pPr>
            <a:r>
              <a:t>6-hour feature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240280"/>
            <a:ext cx="1965960" cy="77724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5192" y="2313432"/>
            <a:ext cx="181965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8FAFC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2679192"/>
            <a:ext cx="1764792" cy="2926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0" i="0">
                <a:solidFill>
                  <a:srgbClr val="B2C2D2"/>
                </a:solidFill>
                <a:latin typeface="Aptos"/>
              </a:defRPr>
            </a:pPr>
            <a:r>
              <a:t>StandardScaler + LR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240280"/>
            <a:ext cx="1828800" cy="77724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5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2313432"/>
            <a:ext cx="168249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8FAFC"/>
                </a:solidFill>
                <a:latin typeface="Aptos"/>
              </a:defRPr>
            </a:pPr>
            <a:r>
              <a:t>BIOLOGICAL 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2679192"/>
            <a:ext cx="1627632" cy="2926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0" i="0">
                <a:solidFill>
                  <a:srgbClr val="B2C2D2"/>
                </a:solidFill>
                <a:latin typeface="Aptos"/>
              </a:defRPr>
            </a:pPr>
            <a:r>
              <a:t>Dynamic stimulus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240280"/>
            <a:ext cx="2148840" cy="77724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2313432"/>
            <a:ext cx="200253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8FAFC"/>
                </a:solidFill>
                <a:latin typeface="Aptos"/>
              </a:defRPr>
            </a:pPr>
            <a:r>
              <a:t>PINN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679192"/>
            <a:ext cx="1947672" cy="2926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0" i="0">
                <a:solidFill>
                  <a:srgbClr val="B2C2D2"/>
                </a:solidFill>
                <a:latin typeface="Aptos"/>
              </a:defRPr>
            </a:pPr>
            <a:r>
              <a:t>IL-6 + CRP outputs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14600" y="2633472"/>
            <a:ext cx="228600" cy="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63440" y="2633472"/>
            <a:ext cx="228600" cy="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61120" y="2633472"/>
            <a:ext cx="274320" cy="0"/>
          </a:xfrm>
          <a:prstGeom prst="line">
            <a:avLst/>
          </a:prstGeom>
          <a:ln w="25400">
            <a:solidFill>
              <a:srgbClr val="55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160520" y="3840480"/>
            <a:ext cx="3840480" cy="91440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33672" y="3913632"/>
            <a:ext cx="369417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400" b="1" i="0">
                <a:solidFill>
                  <a:srgbClr val="F8FAFC"/>
                </a:solidFill>
                <a:latin typeface="Aptos"/>
              </a:defRPr>
            </a:pPr>
            <a:r>
              <a:t>STREAMLIT RESEARCH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1104" y="4279392"/>
            <a:ext cx="36393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t>Patient selection • forecast • trajectories • data provenance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79592" y="3017520"/>
            <a:ext cx="0" cy="82296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001000" y="3017520"/>
            <a:ext cx="2286000" cy="1097280"/>
          </a:xfrm>
          <a:prstGeom prst="line">
            <a:avLst/>
          </a:prstGeom>
          <a:ln w="25400">
            <a:solidFill>
              <a:srgbClr val="55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05840" y="5230368"/>
            <a:ext cx="10149840" cy="68580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5230368"/>
            <a:ext cx="64008" cy="685800"/>
          </a:xfrm>
          <a:prstGeom prst="rect">
            <a:avLst/>
          </a:prstGeom>
          <a:solidFill>
            <a:srgbClr val="FF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07008" y="5385816"/>
            <a:ext cx="97657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F8FAFC"/>
                </a:solidFill>
                <a:latin typeface="Aptos"/>
              </a:defRPr>
            </a:pPr>
            <a:r>
              <a:t>DATA SAFETY NOTE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8" y="5797296"/>
            <a:ext cx="9765792" cy="27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t>Synthetic event labels are targets for training/evaluation only—not predictor inputs.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6539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B2C2D2"/>
                </a:solidFill>
                <a:latin typeface="Aptos"/>
              </a:defRPr>
            </a:pPr>
            <a:r>
              <a:t>THE PINNACLES  •  CRP DIGITAL TWIN CHALLENGE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2881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15B8A6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5B8A6"/>
                </a:solidFill>
                <a:latin typeface="Aptos"/>
              </a:defRPr>
            </a:pPr>
            <a:r>
              <a:t>05 / MODEL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8FAFC"/>
                </a:solidFill>
                <a:latin typeface="Aptos"/>
              </a:defRPr>
            </a:pPr>
            <a:r>
              <a:t>Two-hour synthetic adverse-event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B2C2D2"/>
                </a:solidFill>
                <a:latin typeface="Aptos"/>
              </a:defRPr>
            </a:pPr>
            <a:r>
              <a:t>Input: six-hour observation window. Target: simulated binary event in the following two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83280" cy="1188720"/>
          </a:xfrm>
          <a:prstGeom prst="roundRect">
            <a:avLst/>
          </a:prstGeom>
          <a:solidFill>
            <a:srgbClr val="12253E"/>
          </a:solidFill>
          <a:ln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B2C2D2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301752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15B8A6"/>
                </a:solidFill>
                <a:latin typeface="Aptos"/>
              </a:defRPr>
            </a:pPr>
            <a:r>
              <a:t>0.7197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74519"/>
            <a:ext cx="3383280" cy="1188720"/>
          </a:xfrm>
          <a:prstGeom prst="roundRect">
            <a:avLst/>
          </a:prstGeom>
          <a:solidFill>
            <a:srgbClr val="12253E"/>
          </a:solidFill>
          <a:ln>
            <a:solidFill>
              <a:srgbClr val="5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057400"/>
            <a:ext cx="3017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B2C2D2"/>
                </a:solidFill>
                <a:latin typeface="Aptos"/>
              </a:defRPr>
            </a:pPr>
            <a:r>
              <a:t>PR-AUC / 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95728"/>
            <a:ext cx="301752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55D2DE"/>
                </a:solidFill>
                <a:latin typeface="Aptos"/>
              </a:defRPr>
            </a:pPr>
            <a:r>
              <a:t>0.3496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74519"/>
            <a:ext cx="3383280" cy="1188720"/>
          </a:xfrm>
          <a:prstGeom prst="roundRect">
            <a:avLst/>
          </a:prstGeom>
          <a:solidFill>
            <a:srgbClr val="12253E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57400"/>
            <a:ext cx="3017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B2C2D2"/>
                </a:solidFill>
                <a:latin typeface="Aptos"/>
              </a:defRPr>
            </a:pPr>
            <a:r>
              <a:t>TEST EVENT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95728"/>
            <a:ext cx="301752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FFBE5C"/>
                </a:solidFill>
                <a:latin typeface="Aptos"/>
              </a:defRPr>
            </a:pPr>
            <a:r>
              <a:t>0.1718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20440"/>
            <a:ext cx="5074920" cy="169164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520440"/>
            <a:ext cx="64008" cy="1691640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675888"/>
            <a:ext cx="46908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087368"/>
            <a:ext cx="4690872" cy="10332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B2C2D2"/>
                </a:solidFill>
                <a:latin typeface="Aptos"/>
              </a:defRPr>
            </a:pPr>
            <a:r>
              <a:t>Static: age, BMI, blood pressure, HbA1c, sedentary minutes.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B2C2D2"/>
                </a:solidFill>
                <a:latin typeface="Aptos"/>
              </a:defRPr>
            </a:pPr>
            <a:r>
              <a:t>Dynamic: rolling means, variability and slopes for HRV, resting heart rate, sleep, stress and activity.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20440"/>
            <a:ext cx="5074920" cy="169164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520440"/>
            <a:ext cx="64008" cy="1691640"/>
          </a:xfrm>
          <a:prstGeom prst="rect">
            <a:avLst/>
          </a:prstGeom>
          <a:solidFill>
            <a:srgbClr val="55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675888"/>
            <a:ext cx="46908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EVALUATION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87368"/>
            <a:ext cx="4690872" cy="10332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B2C2D2"/>
                </a:solidFill>
                <a:latin typeface="Aptos"/>
              </a:defRPr>
            </a:pPr>
            <a:r>
              <a:t>Standardized Logistic Regression; patient-level 80/20 split; generated event probability and forecast metadata excluded from predictor features.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77840"/>
            <a:ext cx="10515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FFBE5C"/>
                </a:solidFill>
                <a:latin typeface="Aptos"/>
              </a:defRPr>
            </a:pPr>
            <a:r>
              <a:t>All metrics are measured against synthetic labels. They do not measure clinical event prediction accuracy.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B2C2D2"/>
                </a:solidFill>
                <a:latin typeface="Aptos"/>
              </a:defRPr>
            </a:pPr>
            <a:r>
              <a:t>THE PINNACLES  •  CRP DIGITAL TWIN CHALLENGE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2881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15B8A6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5B8A6"/>
                </a:solidFill>
                <a:latin typeface="Aptos"/>
              </a:defRPr>
            </a:pPr>
            <a:r>
              <a:t>06 / MODEL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8FAFC"/>
                </a:solidFill>
                <a:latin typeface="Aptos"/>
              </a:defRPr>
            </a:pPr>
            <a:r>
              <a:t>A physics-informed model simulates IL-6 and CRP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B2C2D2"/>
                </a:solidFill>
                <a:latin typeface="Aptos"/>
              </a:defRPr>
            </a:pPr>
            <a:r>
              <a:t>The biological ODE provides simplified dynamics; the PINN learns simulated trajectories using data and physics-residual losses.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2240280" cy="114300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30552"/>
            <a:ext cx="209397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400" b="1" i="0">
                <a:solidFill>
                  <a:srgbClr val="F8FAFC"/>
                </a:solidFill>
                <a:latin typeface="Aptos"/>
              </a:defRPr>
            </a:pPr>
            <a:r>
              <a:t>DYNAMIC STIMULUS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496312"/>
            <a:ext cx="2039112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t>Synthetic input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057400"/>
            <a:ext cx="2240280" cy="114300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5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130552"/>
            <a:ext cx="209397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400" b="1" i="0">
                <a:solidFill>
                  <a:srgbClr val="F8FAFC"/>
                </a:solidFill>
                <a:latin typeface="Aptos"/>
              </a:defRPr>
            </a:pPr>
            <a:r>
              <a:t>BIOLOGICAL 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496312"/>
            <a:ext cx="2039112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t>Two-state IL-6 / CRP dynamics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57400"/>
            <a:ext cx="2240280" cy="114300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30552"/>
            <a:ext cx="209397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400" b="1" i="0">
                <a:solidFill>
                  <a:srgbClr val="F8FAFC"/>
                </a:solidFill>
                <a:latin typeface="Aptos"/>
              </a:defRPr>
            </a:pPr>
            <a:r>
              <a:t>PINN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496312"/>
            <a:ext cx="2039112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t>Time + stimulus + static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057400"/>
            <a:ext cx="2240280" cy="1143000"/>
          </a:xfrm>
          <a:prstGeom prst="roundRect">
            <a:avLst/>
          </a:prstGeom>
          <a:solidFill>
            <a:srgbClr val="12253E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2130552"/>
            <a:ext cx="209397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400" b="1" i="0">
                <a:solidFill>
                  <a:srgbClr val="F8FAFC"/>
                </a:solidFill>
                <a:latin typeface="Aptos"/>
              </a:defRPr>
            </a:pPr>
            <a:r>
              <a:t>TRAJECTORIES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3" y="2496312"/>
            <a:ext cx="2039112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t>Model-simulated IL-6 / CRP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71800" y="2633472"/>
            <a:ext cx="548640" cy="0"/>
          </a:xfrm>
          <a:prstGeom prst="line">
            <a:avLst/>
          </a:prstGeom>
          <a:ln w="25400">
            <a:solidFill>
              <a:srgbClr val="55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60720" y="2633472"/>
            <a:ext cx="548640" cy="0"/>
          </a:xfrm>
          <a:prstGeom prst="line">
            <a:avLst/>
          </a:prstGeom>
          <a:ln w="25400">
            <a:solidFill>
              <a:srgbClr val="55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49640" y="2633472"/>
            <a:ext cx="548640" cy="0"/>
          </a:xfrm>
          <a:prstGeom prst="line">
            <a:avLst/>
          </a:prstGeom>
          <a:ln w="25400">
            <a:solidFill>
              <a:srgbClr val="55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68680" y="3886200"/>
            <a:ext cx="2194560" cy="384048"/>
          </a:xfrm>
          <a:prstGeom prst="rect">
            <a:avLst/>
          </a:prstGeom>
          <a:solidFill>
            <a:srgbClr val="364960"/>
          </a:solidFill>
          <a:ln>
            <a:solidFill>
              <a:srgbClr val="0A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931920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F8FAFC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39" y="3886200"/>
            <a:ext cx="1645920" cy="384048"/>
          </a:xfrm>
          <a:prstGeom prst="rect">
            <a:avLst/>
          </a:prstGeom>
          <a:solidFill>
            <a:srgbClr val="364960"/>
          </a:solidFill>
          <a:ln>
            <a:solidFill>
              <a:srgbClr val="0A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9815" y="3931920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F8FAFC"/>
                </a:solidFill>
                <a:latin typeface="Aptos"/>
              </a:defRPr>
            </a:pPr>
            <a:r>
              <a:t>IL-6 MAE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3886200"/>
            <a:ext cx="1645920" cy="384048"/>
          </a:xfrm>
          <a:prstGeom prst="rect">
            <a:avLst/>
          </a:prstGeom>
          <a:solidFill>
            <a:srgbClr val="364960"/>
          </a:solidFill>
          <a:ln>
            <a:solidFill>
              <a:srgbClr val="0A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3931920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F8FAFC"/>
                </a:solidFill>
                <a:latin typeface="Aptos"/>
              </a:defRPr>
            </a:pPr>
            <a:r>
              <a:t>IL-6 R²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886200"/>
            <a:ext cx="1645920" cy="384048"/>
          </a:xfrm>
          <a:prstGeom prst="rect">
            <a:avLst/>
          </a:prstGeom>
          <a:solidFill>
            <a:srgbClr val="364960"/>
          </a:solidFill>
          <a:ln>
            <a:solidFill>
              <a:srgbClr val="0A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3931920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F8FAFC"/>
                </a:solidFill>
                <a:latin typeface="Aptos"/>
              </a:defRPr>
            </a:pPr>
            <a:r>
              <a:t>CRP MAE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886200"/>
            <a:ext cx="1645920" cy="384048"/>
          </a:xfrm>
          <a:prstGeom prst="rect">
            <a:avLst/>
          </a:prstGeom>
          <a:solidFill>
            <a:srgbClr val="364960"/>
          </a:solidFill>
          <a:ln>
            <a:solidFill>
              <a:srgbClr val="0A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7575" y="3931920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F8FAFC"/>
                </a:solidFill>
                <a:latin typeface="Aptos"/>
              </a:defRPr>
            </a:pPr>
            <a:r>
              <a:t>CRP R²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4288536"/>
            <a:ext cx="2194560" cy="365760"/>
          </a:xfrm>
          <a:prstGeom prst="rect">
            <a:avLst/>
          </a:prstGeom>
          <a:solidFill>
            <a:srgbClr val="12253E"/>
          </a:solidFill>
          <a:ln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29684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55D2DE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39" y="4288536"/>
            <a:ext cx="1645920" cy="365760"/>
          </a:xfrm>
          <a:prstGeom prst="rect">
            <a:avLst/>
          </a:prstGeom>
          <a:solidFill>
            <a:srgbClr val="12253E"/>
          </a:solidFill>
          <a:ln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9815" y="4329684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55D2DE"/>
                </a:solidFill>
                <a:latin typeface="Aptos"/>
              </a:defRPr>
            </a:pPr>
            <a:r>
              <a:t>1.0539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09160" y="4288536"/>
            <a:ext cx="1645920" cy="365760"/>
          </a:xfrm>
          <a:prstGeom prst="rect">
            <a:avLst/>
          </a:prstGeom>
          <a:solidFill>
            <a:srgbClr val="12253E"/>
          </a:solidFill>
          <a:ln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5736" y="4329684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55D2DE"/>
                </a:solidFill>
                <a:latin typeface="Aptos"/>
              </a:defRPr>
            </a:pPr>
            <a:r>
              <a:t>0.0643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288536"/>
            <a:ext cx="1645920" cy="365760"/>
          </a:xfrm>
          <a:prstGeom prst="rect">
            <a:avLst/>
          </a:prstGeom>
          <a:solidFill>
            <a:srgbClr val="12253E"/>
          </a:solidFill>
          <a:ln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4329684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55D2DE"/>
                </a:solidFill>
                <a:latin typeface="Aptos"/>
              </a:defRPr>
            </a:pPr>
            <a:r>
              <a:t>8.9218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4288536"/>
            <a:ext cx="1645920" cy="365760"/>
          </a:xfrm>
          <a:prstGeom prst="rect">
            <a:avLst/>
          </a:prstGeom>
          <a:solidFill>
            <a:srgbClr val="12253E"/>
          </a:solidFill>
          <a:ln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37575" y="4329684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55D2DE"/>
                </a:solidFill>
                <a:latin typeface="Aptos"/>
              </a:defRPr>
            </a:pPr>
            <a:r>
              <a:t>-0.3538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4681728"/>
            <a:ext cx="2194560" cy="365760"/>
          </a:xfrm>
          <a:prstGeom prst="rect">
            <a:avLst/>
          </a:prstGeom>
          <a:solidFill>
            <a:srgbClr val="0A162A"/>
          </a:solidFill>
          <a:ln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" y="4722876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F8FAFC"/>
                </a:solidFill>
                <a:latin typeface="Aptos"/>
              </a:defRPr>
            </a:pPr>
            <a:r>
              <a:t>Conditioned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39" y="4681728"/>
            <a:ext cx="1645920" cy="365760"/>
          </a:xfrm>
          <a:prstGeom prst="rect">
            <a:avLst/>
          </a:prstGeom>
          <a:solidFill>
            <a:srgbClr val="0A162A"/>
          </a:solidFill>
          <a:ln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9815" y="4722876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F8FAFC"/>
                </a:solidFill>
                <a:latin typeface="Aptos"/>
              </a:defRPr>
            </a:pPr>
            <a:r>
              <a:t>1.2119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4681728"/>
            <a:ext cx="1645920" cy="365760"/>
          </a:xfrm>
          <a:prstGeom prst="rect">
            <a:avLst/>
          </a:prstGeom>
          <a:solidFill>
            <a:srgbClr val="0A162A"/>
          </a:solidFill>
          <a:ln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45736" y="4722876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F8FAFC"/>
                </a:solidFill>
                <a:latin typeface="Aptos"/>
              </a:defRPr>
            </a:pPr>
            <a:r>
              <a:t>-0.1818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4681728"/>
            <a:ext cx="1645920" cy="365760"/>
          </a:xfrm>
          <a:prstGeom prst="rect">
            <a:avLst/>
          </a:prstGeom>
          <a:solidFill>
            <a:srgbClr val="0A162A"/>
          </a:solidFill>
          <a:ln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91656" y="4722876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F8FAFC"/>
                </a:solidFill>
                <a:latin typeface="Aptos"/>
              </a:defRPr>
            </a:pPr>
            <a:r>
              <a:t>9.8150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1000" y="4681728"/>
            <a:ext cx="1645920" cy="365760"/>
          </a:xfrm>
          <a:prstGeom prst="rect">
            <a:avLst/>
          </a:prstGeom>
          <a:solidFill>
            <a:srgbClr val="0A162A"/>
          </a:solidFill>
          <a:ln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37575" y="4722876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F8FAFC"/>
                </a:solidFill>
                <a:latin typeface="Aptos"/>
              </a:defRPr>
            </a:pPr>
            <a:r>
              <a:t>-0.4368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623560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FBE5C"/>
                </a:solidFill>
                <a:latin typeface="Aptos"/>
              </a:defRPr>
            </a:pPr>
            <a:r>
              <a:t>Patient conditioning did not improve the reported metrics in this controlled synthetic experiment; the baseline performed better.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656539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B2C2D2"/>
                </a:solidFill>
                <a:latin typeface="Aptos"/>
              </a:defRPr>
            </a:pPr>
            <a:r>
              <a:t>THE PINNACLES  •  CRP DIGITAL TWIN CHALLENGE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52881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15B8A6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5B8A6"/>
                </a:solidFill>
                <a:latin typeface="Aptos"/>
              </a:defRPr>
            </a:pPr>
            <a:r>
              <a:t>07 /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8FAFC"/>
                </a:solidFill>
                <a:latin typeface="Aptos"/>
              </a:defRPr>
            </a:pPr>
            <a:r>
              <a:t>A runnable research dashboard is already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B2C2D2"/>
                </a:solidFill>
                <a:latin typeface="Aptos"/>
              </a:defRPr>
            </a:pPr>
            <a:r>
              <a:t>The dashboard loads saved model artifacts rather than training models during startup.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6492240" cy="3474720"/>
          </a:xfrm>
          <a:prstGeom prst="roundRect">
            <a:avLst/>
          </a:prstGeom>
          <a:solidFill>
            <a:srgbClr val="F5F8FB"/>
          </a:solidFill>
          <a:ln>
            <a:solidFill>
              <a:srgbClr val="C3D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492240" cy="384048"/>
          </a:xfrm>
          <a:prstGeom prst="rect">
            <a:avLst/>
          </a:prstGeom>
          <a:solidFill>
            <a:srgbClr val="DE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91440" cy="91440"/>
          </a:xfrm>
          <a:prstGeom prst="ellipse">
            <a:avLst/>
          </a:prstGeom>
          <a:solidFill>
            <a:srgbClr val="FF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1288" y="1956816"/>
            <a:ext cx="91440" cy="91440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62456" y="1956816"/>
            <a:ext cx="91440" cy="91440"/>
          </a:xfrm>
          <a:prstGeom prst="ellipse">
            <a:avLst/>
          </a:prstGeom>
          <a:solidFill>
            <a:srgbClr val="54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5852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92A3D"/>
                </a:solidFill>
                <a:latin typeface="Aptos"/>
              </a:defRPr>
            </a:pPr>
            <a:r>
              <a:t>CRP DIGITAL TWIN • RESEARCH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971800"/>
            <a:ext cx="1627632" cy="1298448"/>
          </a:xfrm>
          <a:prstGeom prst="roundRect">
            <a:avLst/>
          </a:prstGeom>
          <a:solidFill>
            <a:srgbClr val="F8FAFC"/>
          </a:solidFill>
          <a:ln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3154680"/>
            <a:ext cx="14813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900" b="1" i="0">
                <a:solidFill>
                  <a:srgbClr val="192A3D"/>
                </a:solidFill>
                <a:latin typeface="Aptos"/>
              </a:defRPr>
            </a:pPr>
            <a:r>
              <a:t>PATIENT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03320"/>
            <a:ext cx="1444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900" b="0" i="0">
                <a:solidFill>
                  <a:srgbClr val="364960"/>
                </a:solidFill>
                <a:latin typeface="Aptos"/>
              </a:defRPr>
            </a:pPr>
            <a:r>
              <a:t>NHANES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79" y="2971800"/>
            <a:ext cx="1627632" cy="1298448"/>
          </a:xfrm>
          <a:prstGeom prst="roundRect">
            <a:avLst/>
          </a:prstGeom>
          <a:solidFill>
            <a:srgbClr val="F8FAF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3154680"/>
            <a:ext cx="14813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900" b="1" i="0">
                <a:solidFill>
                  <a:srgbClr val="192A3D"/>
                </a:solidFill>
                <a:latin typeface="Aptos"/>
              </a:defRPr>
            </a:pPr>
            <a:r>
              <a:t>2-HOUR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03320"/>
            <a:ext cx="1444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900" b="0" i="0">
                <a:solidFill>
                  <a:srgbClr val="364960"/>
                </a:solidFill>
                <a:latin typeface="Aptos"/>
              </a:defRPr>
            </a:pPr>
            <a:r>
              <a:t>Synthetic probability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2971800"/>
            <a:ext cx="1627632" cy="1298448"/>
          </a:xfrm>
          <a:prstGeom prst="roundRect">
            <a:avLst/>
          </a:prstGeom>
          <a:solidFill>
            <a:srgbClr val="F8FAFC"/>
          </a:solidFill>
          <a:ln>
            <a:solidFill>
              <a:srgbClr val="5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3154680"/>
            <a:ext cx="14813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900" b="1" i="0">
                <a:solidFill>
                  <a:srgbClr val="192A3D"/>
                </a:solidFill>
                <a:latin typeface="Aptos"/>
              </a:defRPr>
            </a:pPr>
            <a:r>
              <a:t>IL-6 / CRP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703320"/>
            <a:ext cx="1444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900" b="0" i="0">
                <a:solidFill>
                  <a:srgbClr val="364960"/>
                </a:solidFill>
                <a:latin typeface="Aptos"/>
              </a:defRPr>
            </a:pPr>
            <a:r>
              <a:t>Simulated trajectories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43000" y="4754880"/>
            <a:ext cx="5669280" cy="0"/>
          </a:xfrm>
          <a:prstGeom prst="line">
            <a:avLst/>
          </a:prstGeom>
          <a:ln w="12700">
            <a:solidFill>
              <a:srgbClr val="CE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26679" y="1874519"/>
            <a:ext cx="3611880" cy="123444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26679" y="1874519"/>
            <a:ext cx="64008" cy="1234440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2029967"/>
            <a:ext cx="32278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8FAFC"/>
                </a:solidFill>
                <a:latin typeface="Aptos"/>
              </a:defRPr>
            </a:pPr>
            <a:r>
              <a:rPr>
                <a:hlinkClick r:id="rId2"/>
              </a:rPr>
              <a:t>LIVE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2441448"/>
            <a:ext cx="3227832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B2C2D2"/>
                </a:solidFill>
                <a:latin typeface="Aptos"/>
              </a:defRPr>
            </a:pPr>
            <a:r>
              <a:rPr>
                <a:hlinkClick r:id="rId2"/>
              </a:rPr>
              <a:t>thepinnacles-crp-digital-twin.streamlit.app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3337560"/>
            <a:ext cx="3611880" cy="123444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26679" y="3337560"/>
            <a:ext cx="64008" cy="1234440"/>
          </a:xfrm>
          <a:prstGeom prst="rect">
            <a:avLst/>
          </a:prstGeom>
          <a:solidFill>
            <a:srgbClr val="55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3493008"/>
            <a:ext cx="32278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8FAFC"/>
                </a:solidFill>
                <a:latin typeface="Aptos"/>
              </a:defRPr>
            </a:pPr>
            <a:r>
              <a:rPr>
                <a:hlinkClick r:id="rId3"/>
              </a:rPr>
              <a:t>PUBLIC REPOSITORY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3904487"/>
            <a:ext cx="3227832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100" b="0" i="0">
                <a:solidFill>
                  <a:srgbClr val="B2C2D2"/>
                </a:solidFill>
                <a:latin typeface="Aptos"/>
              </a:defRPr>
            </a:pPr>
            <a:r>
              <a:rPr>
                <a:hlinkClick r:id="rId3"/>
              </a:rPr>
              <a:t>github.com/debajoyatibera/ThePINNacles_UEM_Kolkata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4800600"/>
            <a:ext cx="3611880" cy="841248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26679" y="4800600"/>
            <a:ext cx="64008" cy="841248"/>
          </a:xfrm>
          <a:prstGeom prst="rect">
            <a:avLst/>
          </a:prstGeom>
          <a:solidFill>
            <a:srgbClr val="54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4956048"/>
            <a:ext cx="32278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8FAFC"/>
                </a:solidFill>
                <a:latin typeface="Aptos"/>
              </a:defRPr>
            </a:pPr>
            <a:r>
              <a:t>TEST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7848" y="5367528"/>
            <a:ext cx="32278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100" b="0" i="0">
                <a:solidFill>
                  <a:srgbClr val="B2C2D2"/>
                </a:solidFill>
                <a:latin typeface="Aptos"/>
              </a:defRPr>
            </a:pPr>
            <a:r>
              <a:t>189 tests passed in the project environment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6539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B2C2D2"/>
                </a:solidFill>
                <a:latin typeface="Aptos"/>
              </a:defRPr>
            </a:pPr>
            <a:r>
              <a:t>THE PINNACLES  •  CRP DIGITAL TWIN CHALLENGE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2881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15B8A6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5B8A6"/>
                </a:solidFill>
                <a:latin typeface="Aptos"/>
              </a:defRPr>
            </a:pPr>
            <a:r>
              <a:t>08 /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8FAFC"/>
                </a:solidFill>
                <a:latin typeface="Aptos"/>
              </a:defRPr>
            </a:pPr>
            <a:r>
              <a:t>What this prototype can—and cannot—claim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B2C2D2"/>
                </a:solidFill>
                <a:latin typeface="Aptos"/>
              </a:defRPr>
            </a:pPr>
            <a:r>
              <a:t>Clear boundaries are part of the solution, especially in healthcare.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329184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3291840"/>
          </a:xfrm>
          <a:prstGeom prst="rect">
            <a:avLst/>
          </a:prstGeom>
          <a:solidFill>
            <a:srgbClr val="54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4828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WHAT IT DEMONSTRATES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828032" cy="2633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• Baseline + dynamic feature pipeline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• Two-hour synthetic event forecasting workflow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• ODE/PINN inflammation simulation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• Doctor-facing dashboard concept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• Transparent provenance and saved artifacts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329184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64008" cy="3291840"/>
          </a:xfrm>
          <a:prstGeom prst="rect">
            <a:avLst/>
          </a:prstGeom>
          <a:solidFill>
            <a:srgbClr val="FF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84248"/>
            <a:ext cx="4828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WHAT IT DOES NOT DEMONSTRATE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95728"/>
            <a:ext cx="4828032" cy="2633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• Real clinical event prediction accuracy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• Real wearable integration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• Validated individual inflammatory trajectories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• Diagnosis or treatment advice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• Clinical effectiveness or deployment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104698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BE5C"/>
                </a:solidFill>
                <a:latin typeface="Aptos"/>
              </a:defRPr>
            </a:pPr>
            <a:r>
              <a:t>NHANES is cross-sectional; event labels and dynamic streams are synthetic; trajectories are model-simulated.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6539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B2C2D2"/>
                </a:solidFill>
                <a:latin typeface="Aptos"/>
              </a:defRPr>
            </a:pPr>
            <a:r>
              <a:t>THE PINNACLES  •  CRP DIGITAL TWIN CHALLENGE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2881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15B8A6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5B8A6"/>
                </a:solidFill>
                <a:latin typeface="Aptos"/>
              </a:defRPr>
            </a:pPr>
            <a:r>
              <a:t>09 / ENGINEERING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8FAFC"/>
                </a:solidFill>
                <a:latin typeface="Aptos"/>
              </a:defRPr>
            </a:pPr>
            <a:r>
              <a:t>Reproducible prototype, candid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B2C2D2"/>
                </a:solidFill>
                <a:latin typeface="Aptos"/>
              </a:defRPr>
            </a:pPr>
            <a:r>
              <a:t>Patient-level separation and feature hygiene reduce leakage risk; synthetic targets limit the scientific claims we can make.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520440" cy="228600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64008" cy="2286000"/>
          </a:xfrm>
          <a:prstGeom prst="rect">
            <a:avLst/>
          </a:prstGeom>
          <a:solidFill>
            <a:srgbClr val="55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29967"/>
            <a:ext cx="31363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3136392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Python • pandas / NumPy • scikit-learn • PyTorch • Streamlit • pytest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20440" cy="228600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64008" cy="2286000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29967"/>
            <a:ext cx="31363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41448"/>
            <a:ext cx="3136392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Patient-level 80/20 event split; StandardScaler + Logistic Regression; metrics against simulated labels.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74519"/>
            <a:ext cx="3520440" cy="228600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874519"/>
            <a:ext cx="64008" cy="2286000"/>
          </a:xfrm>
          <a:prstGeom prst="rect">
            <a:avLst/>
          </a:prstGeom>
          <a:solidFill>
            <a:srgbClr val="54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2029967"/>
            <a:ext cx="31363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8FAFC"/>
                </a:solidFill>
                <a:latin typeface="Aptos"/>
              </a:defRPr>
            </a:pPr>
            <a:r>
              <a:t>QUALITY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441448"/>
            <a:ext cx="3136392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B2C2D2"/>
                </a:solidFill>
                <a:latin typeface="Aptos"/>
              </a:defRPr>
            </a:pPr>
            <a:r>
              <a:t>189 automated tests passed; saved model artifact and compact latest-per-patient serving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572000"/>
            <a:ext cx="10058400" cy="96012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4572000"/>
            <a:ext cx="64008" cy="9601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" y="4727448"/>
            <a:ext cx="96743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8FAFC"/>
                </a:solidFill>
                <a:latin typeface="Aptos"/>
              </a:defRPr>
            </a:pPr>
            <a:r>
              <a:t>REPORTED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5138928"/>
            <a:ext cx="967435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B2C2D2"/>
                </a:solidFill>
                <a:latin typeface="Aptos"/>
              </a:defRPr>
            </a:pPr>
            <a:r>
              <a:t>Event predictor ROC-AUC 0.7197 / PR-AUC 0.3496 on synthetic labels; patient-conditioned PINN did not outperform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B2C2D2"/>
                </a:solidFill>
                <a:latin typeface="Aptos"/>
              </a:defRPr>
            </a:pPr>
            <a:r>
              <a:t>THE PINNACLES  •  CRP DIGITAL TWIN CHALLENGE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2881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15B8A6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5B8A6"/>
                </a:solidFill>
                <a:latin typeface="Aptos"/>
              </a:defRPr>
            </a:pPr>
            <a:r>
              <a:t>10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8FAFC"/>
                </a:solidFill>
                <a:latin typeface="Aptos"/>
              </a:defRPr>
            </a:pPr>
            <a:r>
              <a:t>Path from proof of concept to responsible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B2C2D2"/>
                </a:solidFill>
                <a:latin typeface="Aptos"/>
              </a:defRPr>
            </a:pPr>
            <a:r>
              <a:t>Priorities needed before any clinical-facing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475488" cy="310896"/>
          </a:xfrm>
          <a:prstGeom prst="round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01368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1" i="0">
                <a:solidFill>
                  <a:srgbClr val="0A162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92224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8FAFC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783080"/>
            <a:ext cx="7909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B2C2D2"/>
                </a:solidFill>
                <a:latin typeface="Aptos"/>
              </a:defRPr>
            </a:pPr>
            <a:r>
              <a:t>Acquire suitable longitudinal, consented data with repeated outcomes.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60704" y="2194560"/>
            <a:ext cx="0" cy="274320"/>
          </a:xfrm>
          <a:prstGeom prst="line">
            <a:avLst/>
          </a:prstGeom>
          <a:ln w="12700">
            <a:solidFill>
              <a:srgbClr val="3649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2587752"/>
            <a:ext cx="475488" cy="310896"/>
          </a:xfrm>
          <a:prstGeom prst="round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06040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1" i="0">
                <a:solidFill>
                  <a:srgbClr val="0A162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96896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8FAFC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587752"/>
            <a:ext cx="7909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B2C2D2"/>
                </a:solidFill>
                <a:latin typeface="Aptos"/>
              </a:defRPr>
            </a:pPr>
            <a:r>
              <a:t>Evaluate against independently observed outcomes; use external patient-level splits.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60704" y="2999232"/>
            <a:ext cx="0" cy="274320"/>
          </a:xfrm>
          <a:prstGeom prst="line">
            <a:avLst/>
          </a:prstGeom>
          <a:ln w="12700">
            <a:solidFill>
              <a:srgbClr val="3649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" y="3392424"/>
            <a:ext cx="475488" cy="310896"/>
          </a:xfrm>
          <a:prstGeom prst="round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410712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1" i="0">
                <a:solidFill>
                  <a:srgbClr val="0A162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401568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8FAFC"/>
                </a:solidFill>
                <a:latin typeface="Aptos"/>
              </a:defRPr>
            </a:pPr>
            <a:r>
              <a:t>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392424"/>
            <a:ext cx="7909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B2C2D2"/>
                </a:solidFill>
                <a:latin typeface="Aptos"/>
              </a:defRPr>
            </a:pPr>
            <a:r>
              <a:t>Assess calibration, uncertainty and threshold behaviour.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60704" y="3803904"/>
            <a:ext cx="0" cy="274320"/>
          </a:xfrm>
          <a:prstGeom prst="line">
            <a:avLst/>
          </a:prstGeom>
          <a:ln w="12700">
            <a:solidFill>
              <a:srgbClr val="3649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" y="4197096"/>
            <a:ext cx="475488" cy="310896"/>
          </a:xfrm>
          <a:prstGeom prst="round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15383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1" i="0">
                <a:solidFill>
                  <a:srgbClr val="0A162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0624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8FAFC"/>
                </a:solidFill>
                <a:latin typeface="Aptos"/>
              </a:defRPr>
            </a:pPr>
            <a:r>
              <a:t>CLINICAL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197096"/>
            <a:ext cx="7909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B2C2D2"/>
                </a:solidFill>
                <a:latin typeface="Aptos"/>
              </a:defRPr>
            </a:pPr>
            <a:r>
              <a:t>Work with clinicians on workflow, interpretation and failure modes.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60704" y="4608576"/>
            <a:ext cx="0" cy="274320"/>
          </a:xfrm>
          <a:prstGeom prst="line">
            <a:avLst/>
          </a:prstGeom>
          <a:ln w="12700">
            <a:solidFill>
              <a:srgbClr val="3649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" y="5001768"/>
            <a:ext cx="475488" cy="310896"/>
          </a:xfrm>
          <a:prstGeom prst="round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020055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1" i="0">
                <a:solidFill>
                  <a:srgbClr val="0A162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010912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8FAFC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5001768"/>
            <a:ext cx="7909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B2C2D2"/>
                </a:solidFill>
                <a:latin typeface="Aptos"/>
              </a:defRPr>
            </a:pPr>
            <a:r>
              <a:t>Privacy, security, interoperability and prospective evaluation before 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6539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B2C2D2"/>
                </a:solidFill>
                <a:latin typeface="Aptos"/>
              </a:defRPr>
            </a:pPr>
            <a:r>
              <a:t>THE PINNACLES  •  CRP DIGITAL TWIN CHALLENGE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2881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15B8A6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85800"/>
            <a:ext cx="1554480" cy="310896"/>
          </a:xfrm>
          <a:prstGeom prst="round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704088"/>
            <a:ext cx="140817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600"/>
              </a:spcAft>
              <a:defRPr sz="900" b="1" i="0">
                <a:solidFill>
                  <a:srgbClr val="0A162A"/>
                </a:solidFill>
                <a:latin typeface="Aptos"/>
              </a:defRPr>
            </a:pPr>
            <a:r>
              <a:t>THE PINNACLES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8138160" cy="2148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3100" b="1" i="0">
                <a:solidFill>
                  <a:srgbClr val="F8FAFC"/>
                </a:solidFill>
                <a:latin typeface="Aptos"/>
              </a:defRPr>
            </a:pPr>
            <a:r>
              <a:t>A transparent research</a:t>
            </a:r>
          </a:p>
          <a:p>
            <a:pPr algn="l">
              <a:spcAft>
                <a:spcPts val="600"/>
              </a:spcAft>
              <a:defRPr sz="3100" b="1" i="0">
                <a:solidFill>
                  <a:srgbClr val="F8FAFC"/>
                </a:solidFill>
                <a:latin typeface="Aptos"/>
              </a:defRPr>
            </a:pPr>
            <a:r>
              <a:t>prototype for digital-twin</a:t>
            </a:r>
          </a:p>
          <a:p>
            <a:pPr algn="l">
              <a:spcAft>
                <a:spcPts val="600"/>
              </a:spcAft>
              <a:defRPr sz="3100" b="1" i="0">
                <a:solidFill>
                  <a:srgbClr val="F8FAFC"/>
                </a:solidFill>
                <a:latin typeface="Aptos"/>
              </a:defRPr>
            </a:pPr>
            <a:r>
              <a:t>exploration in inflammation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950208"/>
            <a:ext cx="34747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2500" b="1" i="0">
                <a:solidFill>
                  <a:srgbClr val="55D2D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36592"/>
            <a:ext cx="7132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F8FAFC"/>
                </a:solidFill>
                <a:latin typeface="Aptos"/>
              </a:defRPr>
            </a:pPr>
            <a:r>
              <a:t>Debajoyati Bera  •  Sneha Chowdhury  •  Anmol Arpit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02352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B2C2D2"/>
                </a:solidFill>
                <a:latin typeface="Aptos"/>
              </a:defRPr>
            </a:pPr>
            <a:r>
              <a:t>University of Engineering &amp; Management (UEM), Kolkata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508760"/>
            <a:ext cx="3154680" cy="128016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1508760"/>
            <a:ext cx="64008" cy="1280160"/>
          </a:xfrm>
          <a:prstGeom prst="rect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1664207"/>
            <a:ext cx="27706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8FAFC"/>
                </a:solidFill>
                <a:latin typeface="Aptos"/>
              </a:defRPr>
            </a:pPr>
            <a:r>
              <a:rPr>
                <a:hlinkClick r:id="rId2"/>
              </a:rPr>
              <a:t>LIVE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075688"/>
            <a:ext cx="2770632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rPr>
                <a:hlinkClick r:id="rId2"/>
              </a:rPr>
              <a:t>https://thepinnacles-crp-digital-twin.streamlit.app/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063240"/>
            <a:ext cx="3154680" cy="1508760"/>
          </a:xfrm>
          <a:prstGeom prst="roundRect">
            <a:avLst/>
          </a:prstGeom>
          <a:solidFill>
            <a:srgbClr val="12253E"/>
          </a:solidFill>
          <a:ln w="12700">
            <a:solidFill>
              <a:srgbClr val="36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3063240"/>
            <a:ext cx="64008" cy="1508760"/>
          </a:xfrm>
          <a:prstGeom prst="rect">
            <a:avLst/>
          </a:prstGeom>
          <a:solidFill>
            <a:srgbClr val="55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3218688"/>
            <a:ext cx="27706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8FAFC"/>
                </a:solidFill>
                <a:latin typeface="Aptos"/>
              </a:defRPr>
            </a:pPr>
            <a:r>
              <a:rPr>
                <a:hlinkClick r:id="rId3"/>
              </a:rPr>
              <a:t>PUBLIC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630168"/>
            <a:ext cx="2770632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B2C2D2"/>
                </a:solidFill>
                <a:latin typeface="Aptos"/>
              </a:defRPr>
            </a:pPr>
            <a:r>
              <a:rPr>
                <a:hlinkClick r:id="rId3"/>
              </a:rPr>
              <a:t>https://github.com/debajoyatibera/ThePINNacles_UEM_Kolkata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983480"/>
            <a:ext cx="3154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FFBE5C"/>
                </a:solidFill>
                <a:latin typeface="Aptos"/>
              </a:defRPr>
            </a:pPr>
            <a:r>
              <a:t>Synthetic-data research demonstration • Not clinically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B2C2D2"/>
                </a:solidFill>
                <a:latin typeface="Aptos"/>
              </a:defRPr>
            </a:pPr>
            <a:r>
              <a:t>THE PINNACLES  •  CRP DIGITAL TWIN CHALLENGE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411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15B8A6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Physics-Informed Digital Twin for Personalized Inflammation Simulation</dc:title>
  <dc:subject>CRP Digital Twin Challenge 2026 — Research Proof of Concept</dc:subject>
  <dc:creator>The PINNacles, University of Engineering &amp; Management (UEM), Kolkata</dc:creator>
  <cp:keywords>Digital Twin, CRP, ODE, PINN, synthetic events, healthcare research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